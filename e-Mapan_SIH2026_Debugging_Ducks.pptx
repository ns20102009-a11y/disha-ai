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051560"/>
            <a:ext cx="6217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SMART INDIA HACKATHON 2026  |  PROBLEM STATEMENT ID: SIH26030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Segoe UI"/>
              </a:rPr>
              <a:t>DEPARTMENT OF CONSUMER AFFAIRS (LEGAL METROLOGY DIVISION)
MINISTRY OF CONSUMER AFFAIRS, FOOD &amp; PUBLIC DISTRIBUTION • GOVT. OF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e-Māpan (ई-मापन)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8BDF8"/>
                </a:solidFill>
                <a:latin typeface="Segoe UI"/>
              </a:rPr>
              <a:t>National Online Verification &amp; Cryptographic Stamping System for Weighing and Measuring Instruments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2E8F0"/>
                </a:solidFill>
                <a:latin typeface="Segoe UI"/>
              </a:rPr>
              <a:t>Problem Statement: Development of an Online Verification &amp; Stamping System for Weighing and Measuring Instruments to eliminate table inspections, foil tampering, and empower 1.4B Indian citizens.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160520"/>
            <a:ext cx="1572768" cy="347472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Anti-Ghost Geofencing (150m)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4160520"/>
            <a:ext cx="1572768" cy="347472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Live IoT Load-Cell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4160520"/>
            <a:ext cx="1572768" cy="347472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Cryptographic Form-VIII Seals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4160520"/>
            <a:ext cx="1572768" cy="347472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Citizen QR Trust Badge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51560"/>
            <a:ext cx="3108960" cy="4754880"/>
          </a:xfrm>
          <a:prstGeom prst="roundRect">
            <a:avLst/>
          </a:prstGeom>
          <a:solidFill>
            <a:srgbClr val="13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3444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3154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Segoe UI"/>
              </a:rPr>
              <a:t>Team Members &amp; Lead Developers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931920"/>
            <a:ext cx="27432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Neeraj Sharma</a:t>
            </a:r>
          </a:p>
          <a:p>
            <a:pPr algn="ctr"/>
            <a:r>
              <a:rPr sz="850">
                <a:solidFill>
                  <a:srgbClr val="38BDF8"/>
                </a:solidFill>
                <a:latin typeface="Segoe UI"/>
              </a:rPr>
              <a:t>Full-Stack • IoT Telemetry • Cryptography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800600"/>
            <a:ext cx="27432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Shubhangi Tiwari</a:t>
            </a:r>
          </a:p>
          <a:p>
            <a:pPr algn="ctr"/>
            <a:r>
              <a:rPr sz="850">
                <a:solidFill>
                  <a:srgbClr val="10B981"/>
                </a:solidFill>
                <a:latin typeface="Segoe UI"/>
              </a:rPr>
              <a:t>System Architecture • Metrology UI/UX •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✓ Live Working Prototype Available  |  ✓ Hardware IoT Simulation  |  ✓ 100% Legal Metrology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THE CORE PROBLEM &amp;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The Crisis in Physical Metrology 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Critical Failure Points in India's Current Weighing &amp; Measuring Verification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01.  </a:t>
            </a:r>
            <a:r>
              <a:rPr sz="1300" b="1">
                <a:solidFill>
                  <a:srgbClr val="FFFFFF"/>
                </a:solidFill>
                <a:latin typeface="Segoe UI"/>
              </a:rPr>
              <a:t>Counterfeit Lead Seals &amp; Paper Stamping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Physical lead wire seals and paper stickers are effortlessly cloned, purchased illicitly, or forged.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No cryptographic security: altered scale calibration goes completely unnoticed.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Expired stamping certificates remain posted on premises without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02.  </a:t>
            </a:r>
            <a:r>
              <a:rPr sz="1300" b="1">
                <a:solidFill>
                  <a:srgbClr val="FFFFFF"/>
                </a:solidFill>
                <a:latin typeface="Segoe UI"/>
              </a:rPr>
              <a:t>Ghost 'Table Inspections'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Legal Metrology Officers (LMOs) often approve verifications from offices/desks without physical visits.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Zero location verification or proof-of-presence required in current paperwork.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Traders receive official stamp approvals for scales that have never been tested on-site.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Segoe UI"/>
              </a:rPr>
              <a:t>03.  </a:t>
            </a:r>
            <a:r>
              <a:rPr sz="1300" b="1">
                <a:solidFill>
                  <a:srgbClr val="FFFFFF"/>
                </a:solidFill>
                <a:latin typeface="Segoe UI"/>
              </a:rPr>
              <a:t>Manual Calibration Data Manipulation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Calibration test readings (1kg, 5kg, 10kg, eccentricity) are penned manually into registers.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Inspectors can forge weight readings to pass faulty or manipulated scales for kickbacks.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Violation of OIML R-76 Maximum Permissible Error (MPE) thresholds goes unrecorded.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4164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04.  </a:t>
            </a:r>
            <a:r>
              <a:rPr sz="1300" b="1">
                <a:solidFill>
                  <a:srgbClr val="FFFFFF"/>
                </a:solidFill>
                <a:latin typeface="Segoe UI"/>
              </a:rPr>
              <a:t>Zero Citizen Transparency &amp;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1.4+ Billion Indian citizens have zero instant ways to check if a scale is authentic or expired.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No public verification QR code; consumers are vulnerable to short-weighing daily.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E2E8F0"/>
                </a:solidFill>
                <a:latin typeface="Segoe UI"/>
              </a:rPr>
              <a:t>•  No accessible mechanism for real-time geo-tagged grievance filing and escalation.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126480"/>
            <a:ext cx="10789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NATIONAL IMPACT: Estimated ₹10,000+ Crores annual loss to Indian consumers due to uncalibrated scales &amp; over 40% scales overdue for re-stamping in local mandis.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COMPREHENSIVE DIGITAL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e-Māpan: Integrated 4-Pillar Digital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Transforming Legal Metrology into a Real-Time, Paperless, Geofenced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25603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874519"/>
            <a:ext cx="21945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B6D4"/>
                </a:solidFill>
                <a:latin typeface="Segoe UI"/>
              </a:rPr>
              <a:t>PILLAR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Trader Portal</a:t>
            </a:r>
          </a:p>
          <a:p>
            <a:pPr algn="ctr"/>
            <a:r>
              <a:rPr sz="850">
                <a:solidFill>
                  <a:srgbClr val="FBBF24"/>
                </a:solidFill>
                <a:latin typeface="Segoe UI"/>
              </a:rPr>
              <a:t>Frictionless Self-Service (Route: /trader)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Digital Scale Onboarding with serial number &amp; GPS shop pinning.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Automated Statutory Fee Calculation as per Legal Metrology Rules 2011.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Transparent Verification Tracking from application to digital certificate.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Instant Form-VIII Download.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1737360"/>
            <a:ext cx="25603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1874519"/>
            <a:ext cx="21945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PILLAR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2402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Inspector App</a:t>
            </a:r>
          </a:p>
          <a:p>
            <a:pPr algn="ctr"/>
            <a:r>
              <a:rPr sz="850">
                <a:solidFill>
                  <a:srgbClr val="FBBF24"/>
                </a:solidFill>
                <a:latin typeface="Segoe UI"/>
              </a:rPr>
              <a:t>Anti-Fraud Field Toolkit (Route: /inspector)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Haversine GPS Geofencing: Tests locked unless officer is within 150m.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Automated OIML R-76 Tests: Eccentricity, repeatability &amp; linearity.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Direct IoT Load Cell Read: Weight captured without manual keyboard entry.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Instant Digital Seal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737360"/>
            <a:ext cx="25603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1874519"/>
            <a:ext cx="21945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PILLAR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2402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Citizen Portal</a:t>
            </a:r>
          </a:p>
          <a:p>
            <a:pPr algn="ctr"/>
            <a:r>
              <a:rPr sz="850">
                <a:solidFill>
                  <a:srgbClr val="FBBF24"/>
                </a:solidFill>
                <a:latin typeface="Segoe UI"/>
              </a:rPr>
              <a:t>Public Trust &amp; Grievance (Route: /verify/{cert})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Zero-App Camera Scan: Scan scale QR code with any smartphone.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Instant Green Trust Badge: Expiry date, inspector ID &amp; error tolerance.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Cryptographic HMAC Audit: Real-time anti-counterfeit proof.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One-Touch Grievance Desk: Direct photo + geo-tagged complaint.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1737360"/>
            <a:ext cx="25603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874519"/>
            <a:ext cx="21945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855F7"/>
                </a:solidFill>
                <a:latin typeface="Segoe UI"/>
              </a:rPr>
              <a:t>PILLAR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2402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Ministry Admin</a:t>
            </a:r>
          </a:p>
          <a:p>
            <a:pPr algn="ctr"/>
            <a:r>
              <a:rPr sz="850">
                <a:solidFill>
                  <a:srgbClr val="FBBF24"/>
                </a:solidFill>
                <a:latin typeface="Segoe UI"/>
              </a:rPr>
              <a:t>Central Command Grid (Route: /admin)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9718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National Metrology Dashboard: Live compliance rates &amp; revenue trends.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Automated WhatsApp/SMS Alert: 30-day, 15-day &amp; overdue notices.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AI Vigilance Anomaly Engine: Flags suspicious inspector approvals.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✔  APMC Mandi Heatmaps &amp; audits.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989320"/>
            <a:ext cx="10789920" cy="594360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★ INTEGRATED BONUS INNOVATION: ProductGuard AI (/productguard)  </a:t>
            </a:r>
            <a:r>
              <a:rPr sz="950">
                <a:solidFill>
                  <a:srgbClr val="FFFFFF"/>
                </a:solidFill>
                <a:latin typeface="Segoe UI"/>
              </a:rPr>
              <a:t>Multimodal AI scanner verifying Legal Metrology Packaged Commodities (LMPC 2011) compliance for MRP, net weight, expiry &amp; manufacturer recalls.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TECHNICAL 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End-to-End Verification Pipeline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Zero-Trust Cryptographic Workflow from IoT Hardware Sensors to National Cloud Grid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2011680" cy="2377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Segoe U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Scale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Segoe UI"/>
              </a:rPr>
              <a:t>Trader registers scale specs, serial no &amp; shop geo-coordinates. Calculates statutory fee automatically.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34056" y="2743200"/>
            <a:ext cx="164592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6936" y="1737360"/>
            <a:ext cx="2011680" cy="2377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8745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Geofence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7889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Segoe UI"/>
              </a:rPr>
              <a:t>LMO arrives on-site. Server computes Haversine distance; tests unlocked ONLY when within 150 meters.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65192" y="2743200"/>
            <a:ext cx="164592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48072" y="1737360"/>
            <a:ext cx="2011680" cy="2377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18745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Live IoT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27889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Segoe UI"/>
              </a:rPr>
              <a:t>Digital scale streams load cell packets directly over WebSockets/BLE into calibration checklist. Zero manual input.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96328" y="2743200"/>
            <a:ext cx="164592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79208" y="1737360"/>
            <a:ext cx="2011680" cy="2377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18745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A855F7"/>
                </a:solidFill>
                <a:latin typeface="Segoe UI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Crypto Stamping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27889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Segoe UI"/>
              </a:rPr>
              <a:t>Backend signs Form-VIII with HMAC-SHA256 signature, SHA-256 seal hash, and generates dynamic QR code.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27464" y="2743200"/>
            <a:ext cx="164592" cy="2286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0344" y="1737360"/>
            <a:ext cx="2011680" cy="23774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1874519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1784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Citizen QR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1784" y="27889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Segoe UI"/>
              </a:rPr>
              <a:t>QR affixed to scale. Consumers scan with phone camera to view Green Trust Badge or file instant complaints.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389120"/>
            <a:ext cx="3474720" cy="20116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Segoe UI"/>
              </a:rPr>
              <a:t>Anti-Table Inspection Geofencing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92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Haversine GPS Spherical Trigonometry calculation executed on secure server.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Enforces physical proximity radius &lt;= 150 meters from trader coordinates.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Hard blocks inspection submission if inspector is outside geofence boundary.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389120"/>
            <a:ext cx="3474720" cy="20116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Segoe UI"/>
              </a:rPr>
              <a:t>Live IoT Load-Cell Telemetry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892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Real-time WebSocket bridge (ws://localhost:8000/ws/iot/{scale_id}).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Captures direct continuous load cell readings (1kg, 5kg, 10kg) without human typing.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Includes simulated virtual scale (simulator/virtual_scale.py) for demo.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389120"/>
            <a:ext cx="3474720" cy="201168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480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  <a:latin typeface="Segoe UI"/>
              </a:rPr>
              <a:t>HMAC-SHA256 Cryptographic Digital Seals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8920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Form-VIII digital certificate cryptographically signed with government secret key.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Embeds unique SHA-256 digital stamp hash into public dynamic QR code.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Segoe UI"/>
              </a:rPr>
              <a:t>•  Instant offline or online tamper detection if certificate parameters are altered.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PROTOTYPE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Working Prototype &amp; Live Hardware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Fully Operational Python/FastAPI Application with Real-Time Hardware Simulator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5257800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[FEATURE 01]  </a:t>
            </a:r>
            <a:r>
              <a:rPr sz="1200" b="1">
                <a:solidFill>
                  <a:srgbClr val="FFFFFF"/>
                </a:solidFill>
                <a:latin typeface="Segoe UI"/>
              </a:rPr>
              <a:t>Anti-Ghost Geofencing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► Mode Away (2.4 km Away): </a:t>
            </a:r>
            <a:r>
              <a:rPr sz="950">
                <a:solidFill>
                  <a:srgbClr val="E2E8F0"/>
                </a:solidFill>
                <a:latin typeface="Segoe UI"/>
              </a:rPr>
              <a:t>System detects inspector is outside shop zone. Red Warning Banner triggers; all inspection tests and digital stamping buttons are completely locked.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► Mode On-Site (12m Away): </a:t>
            </a:r>
            <a:r>
              <a:rPr sz="950">
                <a:solidFill>
                  <a:srgbClr val="E2E8F0"/>
                </a:solidFill>
                <a:latin typeface="Segoe UI"/>
              </a:rPr>
              <a:t>Inspector arrives on premises. Green GPS Lock confirms presence; OIML R-76 calibration form unlocks automatically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257800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4708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[FEATURE 02]  </a:t>
            </a:r>
            <a:r>
              <a:rPr sz="1200" b="1">
                <a:solidFill>
                  <a:srgbClr val="FFFFFF"/>
                </a:solidFill>
                <a:latin typeface="Segoe UI"/>
              </a:rPr>
              <a:t>Zero-Touch IoT Scale Telemetry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► Virtual Load Cell Telemetry: </a:t>
            </a:r>
            <a:r>
              <a:rPr sz="950">
                <a:solidFill>
                  <a:srgbClr val="E2E8F0"/>
                </a:solidFill>
                <a:latin typeface="Segoe UI"/>
              </a:rPr>
              <a:t>Hardware simulator (simulator/virtual_scale.py) broadcasts live load cell weight packets directly to inspector UI over WebSockets.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► Tamper-Proof Auto Acquisition: </a:t>
            </a:r>
            <a:r>
              <a:rPr sz="950">
                <a:solidFill>
                  <a:srgbClr val="E2E8F0"/>
                </a:solidFill>
                <a:latin typeface="Segoe UI"/>
              </a:rPr>
              <a:t>Inspector clicks 'Capture from Load Cell'. The exact weight (e.g. 1.000kg, 5.000kg) populates into calibration form without keyboard input.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80"/>
            <a:ext cx="5257800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Segoe UI"/>
              </a:rPr>
              <a:t>[FEATURE 03]  </a:t>
            </a:r>
            <a:r>
              <a:rPr sz="1200" b="1">
                <a:solidFill>
                  <a:srgbClr val="FFFFFF"/>
                </a:solidFill>
                <a:latin typeface="Segoe UI"/>
              </a:rPr>
              <a:t>Official Form-VIII Digital Stamping Certificate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► Statutory Certificate Generator: </a:t>
            </a:r>
            <a:r>
              <a:rPr sz="950">
                <a:solidFill>
                  <a:srgbClr val="E2E8F0"/>
                </a:solidFill>
                <a:latin typeface="Segoe UI"/>
              </a:rPr>
              <a:t>Generates official Legal Metrology Form-VIII certificate with Government of India watermark, inspector seal, validity period, and fee receipt.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► Cryptographic Verification Hash: </a:t>
            </a:r>
            <a:r>
              <a:rPr sz="950">
                <a:solidFill>
                  <a:srgbClr val="E2E8F0"/>
                </a:solidFill>
                <a:latin typeface="Segoe UI"/>
              </a:rPr>
              <a:t>Every certificate embeds a unique HMAC-SHA256 digital stamp and dynamic QR code verifiable instantly by any smartphone.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69080"/>
            <a:ext cx="5257800" cy="214884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55F7"/>
                </a:solidFill>
                <a:latin typeface="Segoe UI"/>
              </a:rPr>
              <a:t>[FEATURE 04]  </a:t>
            </a:r>
            <a:r>
              <a:rPr sz="1200" b="1">
                <a:solidFill>
                  <a:srgbClr val="FFFFFF"/>
                </a:solidFill>
                <a:latin typeface="Segoe UI"/>
              </a:rPr>
              <a:t>Citizen Trust Badge &amp; ProductGuard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Segoe UI"/>
              </a:rPr>
              <a:t>► Public Mobile Camera QR Scan: </a:t>
            </a:r>
            <a:r>
              <a:rPr sz="950">
                <a:solidFill>
                  <a:srgbClr val="E2E8F0"/>
                </a:solidFill>
                <a:latin typeface="Segoe UI"/>
              </a:rPr>
              <a:t>Shoppers point phone at scale sticker to see instant Green 'OFFICIALLY VERIFIED' badge, expiry dates, and permissible error limits.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► ProductGuard AI Label Scanner: </a:t>
            </a:r>
            <a:r>
              <a:rPr sz="950">
                <a:solidFill>
                  <a:srgbClr val="E2E8F0"/>
                </a:solidFill>
                <a:latin typeface="Segoe UI"/>
              </a:rPr>
              <a:t>Multimodal computer vision scanner checks packaged items for mandatory Legal Metrology declarations, font sizes, and recall notices.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309360"/>
            <a:ext cx="1078992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⚡ READY FOR LIVE JUDGES EVALUATION: Launch via run.bat  |  Access portals at http://127.0.0.1:8000  |  Virtual Scale: simulator/virtual_scale.py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ENGINEERING &amp; LEGAL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Technology Stack, Security Hardening &amp;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Architected for High Throughput, Concurrency, and Strict Metrological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74720" cy="42976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B6D4"/>
                </a:solidFill>
                <a:latin typeface="Segoe UI"/>
              </a:rPr>
              <a:t>CORE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Full-Stack 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✔ FastAPI &amp; Python 3.13: </a:t>
            </a:r>
            <a:r>
              <a:rPr sz="900">
                <a:solidFill>
                  <a:srgbClr val="E2E8F0"/>
                </a:solidFill>
                <a:latin typeface="Segoe UI"/>
              </a:rPr>
              <a:t>Ultra-fast asynchronous ASGI backend with high RPS capacity.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✔ SQLAlchemy ORM &amp; SQLite/Postgres: </a:t>
            </a:r>
            <a:r>
              <a:rPr sz="900">
                <a:solidFill>
                  <a:srgbClr val="E2E8F0"/>
                </a:solidFill>
                <a:latin typeface="Segoe UI"/>
              </a:rPr>
              <a:t>Production relational database supporting transactional consistency.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✔ WebSockets (websockets 13.0): </a:t>
            </a:r>
            <a:r>
              <a:rPr sz="900">
                <a:solidFill>
                  <a:srgbClr val="E2E8F0"/>
                </a:solidFill>
                <a:latin typeface="Segoe UI"/>
              </a:rPr>
              <a:t>Low-latency bidirectional streaming gateway for IoT scale telemetry.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✔ PWA &amp; Responsive Jinja2 UI: </a:t>
            </a:r>
            <a:r>
              <a:rPr sz="900">
                <a:solidFill>
                  <a:srgbClr val="E2E8F0"/>
                </a:solidFill>
                <a:latin typeface="Segoe UI"/>
              </a:rPr>
              <a:t>Mobile-first, touch-friendly UI for field inspectors and mobile citizens.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✔ Leaflet.js &amp; OpenStreetMap: </a:t>
            </a:r>
            <a:r>
              <a:rPr sz="900">
                <a:solidFill>
                  <a:srgbClr val="E2E8F0"/>
                </a:solidFill>
                <a:latin typeface="Segoe UI"/>
              </a:rPr>
              <a:t>Interactive geospatial visualization and GPS shop pin mapping.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37360"/>
            <a:ext cx="3474720" cy="42976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ZERO-TRUST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Security &amp; Anti-Tamper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✔ HMAC-SHA256 Cryptographic Seals: </a:t>
            </a:r>
            <a:r>
              <a:rPr sz="900">
                <a:solidFill>
                  <a:srgbClr val="E2E8F0"/>
                </a:solidFill>
                <a:latin typeface="Segoe UI"/>
              </a:rPr>
              <a:t>Digital Form-VIII stamps signed with government key; counterfeit-proof.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✔ Haversine Geofencing Engine: </a:t>
            </a:r>
            <a:r>
              <a:rPr sz="900">
                <a:solidFill>
                  <a:srgbClr val="E2E8F0"/>
                </a:solidFill>
                <a:latin typeface="Segoe UI"/>
              </a:rPr>
              <a:t>Calculates great-circle GPS distance; blocks spoofed inspections.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✔ Anti-Replay QR Codes: </a:t>
            </a:r>
            <a:r>
              <a:rPr sz="900">
                <a:solidFill>
                  <a:srgbClr val="E2E8F0"/>
                </a:solidFill>
                <a:latin typeface="Segoe UI"/>
              </a:rPr>
              <a:t>Dynamic QR hashes embedding verification timestamp and certificate ID.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✔ Immutable Audit Trail: </a:t>
            </a:r>
            <a:r>
              <a:rPr sz="900">
                <a:solidFill>
                  <a:srgbClr val="E2E8F0"/>
                </a:solidFill>
                <a:latin typeface="Segoe UI"/>
              </a:rPr>
              <a:t>Every inspection action, GPS coordinate, and weight reading permanently logged.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✔ Role-Based Access Control: </a:t>
            </a:r>
            <a:r>
              <a:rPr sz="900">
                <a:solidFill>
                  <a:srgbClr val="E2E8F0"/>
                </a:solidFill>
                <a:latin typeface="Segoe UI"/>
              </a:rPr>
              <a:t>Segregated privileges for Traders, Inspectors, and Ministry Admins.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737360"/>
            <a:ext cx="3474720" cy="42976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LEGAL METROLOGY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Statutory &amp; Metrology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8892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✔ The Legal Metrology Act, 2009: </a:t>
            </a:r>
            <a:r>
              <a:rPr sz="900">
                <a:solidFill>
                  <a:srgbClr val="E2E8F0"/>
                </a:solidFill>
                <a:latin typeface="Segoe UI"/>
              </a:rPr>
              <a:t>Digitizes Section 24 mandatory verification and stamping protocols.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✔ Legal Metrology (General) Rules, 2011: </a:t>
            </a:r>
            <a:r>
              <a:rPr sz="900">
                <a:solidFill>
                  <a:srgbClr val="E2E8F0"/>
                </a:solidFill>
                <a:latin typeface="Segoe UI"/>
              </a:rPr>
              <a:t>Form-VIII certificate generation with official statutory fee schedules.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✔ OIML Recommendation R-76: </a:t>
            </a:r>
            <a:r>
              <a:rPr sz="900">
                <a:solidFill>
                  <a:srgbClr val="E2E8F0"/>
                </a:solidFill>
                <a:latin typeface="Segoe UI"/>
              </a:rPr>
              <a:t>Automatic tolerance validation (MPE) for Non-Automatic Weighing Instruments.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✔ Legal Metrology (Packaged Commodities) 2011: </a:t>
            </a:r>
            <a:r>
              <a:rPr sz="900">
                <a:solidFill>
                  <a:srgbClr val="E2E8F0"/>
                </a:solidFill>
                <a:latin typeface="Segoe UI"/>
              </a:rPr>
              <a:t>ProductGuard AI validation for MRP, net wt, and declaration rules.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✔ Digital India / Data Protection Ready: </a:t>
            </a:r>
            <a:r>
              <a:rPr sz="900">
                <a:solidFill>
                  <a:srgbClr val="E2E8F0"/>
                </a:solidFill>
                <a:latin typeface="Segoe UI"/>
              </a:rPr>
              <a:t>Open standards-based architecture ready for UMANG &amp; DigiLocker.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172200"/>
            <a:ext cx="10789920" cy="457200"/>
          </a:xfrm>
          <a:prstGeom prst="roundRect">
            <a:avLst/>
          </a:prstGeom>
          <a:solidFill>
            <a:srgbClr val="131F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0B981"/>
                </a:solidFill>
                <a:latin typeface="Segoe UI"/>
              </a:rPr>
              <a:t>REGULATORY ALIGNMENT: 100% compliant with Ministry Guidelines, Section 24 Verification mandates, and State Metrology Fee Schedules.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★  NATIONAL IMPACT &amp; DEPLOYMENT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National Scalability, ROI &amp; Phased Rollout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BBF24"/>
                </a:solidFill>
                <a:latin typeface="Segoe UI"/>
              </a:rPr>
              <a:t>A Pan-India Blueprint for 28 States, 8 UTs, and 50+ Million Commercial Instruments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20040"/>
            <a:ext cx="2331720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ugging_Ducks_Logo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393192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31552" y="347472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DEBUGGING DUCKS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SIH 2026 • SIH26030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747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MEASURABLE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Societal &amp; Economic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★ 100% Elimination of Ghost Inspections: </a:t>
            </a:r>
            <a:r>
              <a:rPr sz="900">
                <a:solidFill>
                  <a:srgbClr val="E2E8F0"/>
                </a:solidFill>
                <a:latin typeface="Segoe UI"/>
              </a:rPr>
              <a:t>Mandatory 150m GPS geofencing prevents signing certificates from home.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★ ₹500+ Cr Revenue Optimization: </a:t>
            </a:r>
            <a:r>
              <a:rPr sz="900">
                <a:solidFill>
                  <a:srgbClr val="E2E8F0"/>
                </a:solidFill>
                <a:latin typeface="Segoe UI"/>
              </a:rPr>
              <a:t>Automated statutory fee tracking &amp; WhatsApp reminders recover overdue re-stamping revenue.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★ Zero Fraud in Weight Capture: </a:t>
            </a:r>
            <a:r>
              <a:rPr sz="900">
                <a:solidFill>
                  <a:srgbClr val="E2E8F0"/>
                </a:solidFill>
                <a:latin typeface="Segoe UI"/>
              </a:rPr>
              <a:t>Direct IoT telemetry blocks manual keyboard falsification of calibration test readings.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★ Instant Citizen Empowerment: </a:t>
            </a:r>
            <a:r>
              <a:rPr sz="900">
                <a:solidFill>
                  <a:srgbClr val="E2E8F0"/>
                </a:solidFill>
                <a:latin typeface="Segoe UI"/>
              </a:rPr>
              <a:t>Any shopper verifies scale validity in 2 seconds via phone camera.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★ Fast Dispute Resolution: </a:t>
            </a:r>
            <a:r>
              <a:rPr sz="900">
                <a:solidFill>
                  <a:srgbClr val="E2E8F0"/>
                </a:solidFill>
                <a:latin typeface="Segoe UI"/>
              </a:rPr>
              <a:t>Geo-tagged photo complaints route directly to the designated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37360"/>
            <a:ext cx="34747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B6D4"/>
                </a:solidFill>
                <a:latin typeface="Segoe UI"/>
              </a:rPr>
              <a:t>ROLLOUT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Phased National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889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★ Phase 1 (Months 1-3) - High-Value Pilot: </a:t>
            </a:r>
            <a:r>
              <a:rPr sz="900">
                <a:solidFill>
                  <a:srgbClr val="E2E8F0"/>
                </a:solidFill>
                <a:latin typeface="Segoe UI"/>
              </a:rPr>
              <a:t>Rollout in Delhi-NCR APMC Mandis, PDS Fair Price Shops &amp; Gold Retailers.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★ Phase 2 (Months 4-8) - State Integration: </a:t>
            </a:r>
            <a:r>
              <a:rPr sz="900">
                <a:solidFill>
                  <a:srgbClr val="E2E8F0"/>
                </a:solidFill>
                <a:latin typeface="Segoe UI"/>
              </a:rPr>
              <a:t>Onboard State Legal Metrology departments, Petrol Pump pulse dispensers &amp; Weighbridges.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★ Phase 3 (Months 9-12) - National Scale: </a:t>
            </a:r>
            <a:r>
              <a:rPr sz="900">
                <a:solidFill>
                  <a:srgbClr val="E2E8F0"/>
                </a:solidFill>
                <a:latin typeface="Segoe UI"/>
              </a:rPr>
              <a:t>Pan-India deployment across all 28 States &amp; 8 UTs on National Informatics Centre (NIC) cloud.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★ Phase 4 (Future Scope): </a:t>
            </a:r>
            <a:r>
              <a:rPr sz="900">
                <a:solidFill>
                  <a:srgbClr val="E2E8F0"/>
                </a:solidFill>
                <a:latin typeface="Segoe UI"/>
              </a:rPr>
              <a:t>Decentralized blockchain ledger for interstate transport scale verification.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06B6D4"/>
                </a:solidFill>
                <a:latin typeface="Segoe UI"/>
              </a:rPr>
              <a:t>★ UMANG &amp; DigiLocker Integration: </a:t>
            </a:r>
            <a:r>
              <a:rPr sz="900">
                <a:solidFill>
                  <a:srgbClr val="E2E8F0"/>
                </a:solidFill>
                <a:latin typeface="Segoe UI"/>
              </a:rPr>
              <a:t>Seamless access for all Indian citizens and traders.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737360"/>
            <a:ext cx="3474720" cy="411480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80" y="1874519"/>
            <a:ext cx="3108960" cy="2926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COMPETITIVE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The Debugging Ducks Advantage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8892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★ Fully Operational Prototype: </a:t>
            </a:r>
            <a:r>
              <a:rPr sz="900">
                <a:solidFill>
                  <a:srgbClr val="E2E8F0"/>
                </a:solidFill>
                <a:latin typeface="Segoe UI"/>
              </a:rPr>
              <a:t>Working system with web portals, database, and hardware emulator ready today.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★ Hardware Agnostic Architecture: </a:t>
            </a:r>
            <a:r>
              <a:rPr sz="900">
                <a:solidFill>
                  <a:srgbClr val="E2E8F0"/>
                </a:solidFill>
                <a:latin typeface="Segoe UI"/>
              </a:rPr>
              <a:t>Compatible with any digital indicator supporting RS-232, BLE, or WebSocket output.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★ Zero Citizen App Friction: </a:t>
            </a:r>
            <a:r>
              <a:rPr sz="900">
                <a:solidFill>
                  <a:srgbClr val="E2E8F0"/>
                </a:solidFill>
                <a:latin typeface="Segoe UI"/>
              </a:rPr>
              <a:t>Web-based responsive PWA requires no app install from Play Store/App Store.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★ High Security &amp; Low Cost: </a:t>
            </a:r>
            <a:r>
              <a:rPr sz="900">
                <a:solidFill>
                  <a:srgbClr val="E2E8F0"/>
                </a:solidFill>
                <a:latin typeface="Segoe UI"/>
              </a:rPr>
              <a:t>Cloud-native microservices with zero per-transaction licensing fees.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Segoe UI"/>
              </a:rPr>
              <a:t>★ Passionate Engineering Team: </a:t>
            </a:r>
            <a:r>
              <a:rPr sz="900">
                <a:solidFill>
                  <a:srgbClr val="E2E8F0"/>
                </a:solidFill>
                <a:latin typeface="Segoe UI"/>
              </a:rPr>
              <a:t>Neeraj Sharma &amp; Shubhangi Tiwari committed to national digital governance.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989320"/>
            <a:ext cx="10789920" cy="594360"/>
          </a:xfrm>
          <a:prstGeom prst="roundRect">
            <a:avLst/>
          </a:prstGeom>
          <a:solidFill>
            <a:srgbClr val="131F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e-Māpan is fully built, validated, and ready for deployment. </a:t>
            </a:r>
            <a:r>
              <a:rPr sz="1100" b="1">
                <a:solidFill>
                  <a:srgbClr val="F59E0B"/>
                </a:solidFill>
                <a:latin typeface="Segoe UI"/>
              </a:rPr>
              <a:t>Presented by Team DEBUGGING DUCKS (Neeraj Sharma &amp; Shubhangi Tiwari) — Thank You, Respected Judges!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